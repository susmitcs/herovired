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E53E3E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Benign — 357 (62.7%)</c:v>
                </c:pt>
                <c:pt idx="1">
                  <c:v>Malignant — 212 (37.3%)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357</c:v>
                </c:pt>
                <c:pt idx="1">
                  <c:v>212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bd5d0c9-6a51-42ac-8976-ad2f8cd1ff0a}"/>
      </c:ext>
    </c:extLst>
  </c:chart>
  <c:spPr>
    <a:solidFill>
      <a:srgbClr val="F0F4F8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 panose="020B0604020202020204"/>
              </a:rPr>
              <a:t>ROC Curve  (AUC = 0.9997)</a:t>
            </a:r>
            <a:endParaRPr sz="1100" b="0" i="0" u="none" strike="noStrike">
              <a:solidFill>
                <a:srgbClr val="FFFF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Curve (AUC = 0.9997)</c:v>
                </c:pt>
              </c:strCache>
            </c:strRef>
          </c:tx>
          <c:spPr>
            <a:ln w="38100" cap="flat" cmpd="sng" algn="ctr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 cmpd="sng" algn="ctr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0.04</c:v>
                </c:pt>
                <c:pt idx="4">
                  <c:v>0.06</c:v>
                </c:pt>
                <c:pt idx="5">
                  <c:v>0.1</c:v>
                </c:pt>
                <c:pt idx="6">
                  <c:v>0.15</c:v>
                </c:pt>
                <c:pt idx="7">
                  <c:v>0.25</c:v>
                </c:pt>
                <c:pt idx="8">
                  <c:v>0.5</c:v>
                </c:pt>
                <c:pt idx="9">
                  <c:v>0.8</c:v>
                </c:pt>
                <c:pt idx="10">
                  <c:v>1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0.55</c:v>
                </c:pt>
                <c:pt idx="2">
                  <c:v>0.8</c:v>
                </c:pt>
                <c:pt idx="3">
                  <c:v>0.91</c:v>
                </c:pt>
                <c:pt idx="4">
                  <c:v>0.95</c:v>
                </c:pt>
                <c:pt idx="5">
                  <c:v>0.97</c:v>
                </c:pt>
                <c:pt idx="6">
                  <c:v>0.985</c:v>
                </c:pt>
                <c:pt idx="7">
                  <c:v>0.993</c:v>
                </c:pt>
                <c:pt idx="8">
                  <c:v>0.998</c:v>
                </c:pt>
                <c:pt idx="9">
                  <c:v>0.9995</c:v>
                </c:pt>
                <c:pt idx="10">
                  <c:v>1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Baseline</c:v>
                </c:pt>
              </c:strCache>
            </c:strRef>
          </c:tx>
          <c:spPr>
            <a:ln w="38100" cap="flat" cmpd="sng" algn="ctr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 cmpd="sng" algn="ctr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0.04</c:v>
                </c:pt>
                <c:pt idx="4">
                  <c:v>0.06</c:v>
                </c:pt>
                <c:pt idx="5">
                  <c:v>0.1</c:v>
                </c:pt>
                <c:pt idx="6">
                  <c:v>0.15</c:v>
                </c:pt>
                <c:pt idx="7">
                  <c:v>0.25</c:v>
                </c:pt>
                <c:pt idx="8">
                  <c:v>0.5</c:v>
                </c:pt>
                <c:pt idx="9">
                  <c:v>0.8</c:v>
                </c:pt>
                <c:pt idx="10">
                  <c:v>1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 cmpd="sng" algn="ctr">
              <a:solidFill>
                <a:srgbClr val="1A4A6A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AA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1A4A6A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AA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91f2e59b-0198-4e2a-b661-174b705f52d5}"/>
      </c:ext>
    </c:extLst>
  </c:chart>
  <c:spPr>
    <a:solidFill>
      <a:srgbClr val="0D3B6E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274320"/>
            <a:ext cx="3840480" cy="3840480"/>
          </a:xfrm>
          <a:prstGeom prst="ellipse">
            <a:avLst/>
          </a:prstGeom>
          <a:solidFill>
            <a:srgbClr val="0E4B7A"/>
          </a:solidFill>
          <a:ln w="12700">
            <a:solidFill>
              <a:srgbClr val="0E4B7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64008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502920"/>
            <a:ext cx="6035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Breast Tumor Classification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6035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with Random Forest &amp;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4320" y="153619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2C39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Diagnostic Pattern Segmentation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74320" y="237744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487168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UCI Wisconsin Diagnostic Breast Cancer (WDBC) Dataset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944368"/>
            <a:ext cx="5303520" cy="1828800"/>
          </a:xfrm>
          <a:prstGeom prst="rect">
            <a:avLst/>
          </a:prstGeom>
          <a:solidFill>
            <a:srgbClr val="0D2E4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305409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TITANS  ·  Healthcare Analytics Capstone  ·  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3346704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Anjaneyulu Pathuri · Susmit Sudhakaran · Saikiran Malleli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621024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Rittika Bhattacharya · Vaibhav Patil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393192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Model: Random Forest Classifier  ·  Dataset: WDBC (569 records)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"Focused on risk prioritization, interpretability, and decision-support analytics."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Meet Team Titans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Roles were collaboratively shared across all team members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572768" cy="3429000"/>
          </a:xfrm>
          <a:prstGeom prst="rect">
            <a:avLst/>
          </a:prstGeom>
          <a:solidFill>
            <a:srgbClr val="0D3B6E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18488"/>
            <a:ext cx="914400" cy="9144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4944" y="2587752"/>
            <a:ext cx="914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715768"/>
            <a:ext cx="14813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Anjaneyulu Pathuri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3319272"/>
            <a:ext cx="135331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" y="3319272"/>
            <a:ext cx="13533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From: Andhra Pradesh</a:t>
            </a:r>
            <a:endParaRPr lang="en-US" sz="85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Domain: Software Development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Profession: Tech Lead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14+ Yrs Exp</a:t>
            </a:r>
            <a:endParaRPr lang="en-US" sz="85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075688" y="1417320"/>
            <a:ext cx="1572768" cy="3429000"/>
          </a:xfrm>
          <a:prstGeom prst="rect">
            <a:avLst/>
          </a:prstGeom>
          <a:solidFill>
            <a:srgbClr val="0D3B6E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618488"/>
            <a:ext cx="914400" cy="914400"/>
          </a:xfrm>
          <a:prstGeom prst="ellipse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404872" y="2587752"/>
            <a:ext cx="914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121408" y="2715768"/>
            <a:ext cx="14813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Susmit Sudhakaran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185416" y="3319272"/>
            <a:ext cx="1353312" cy="685800"/>
          </a:xfrm>
          <a:prstGeom prst="rect">
            <a:avLst/>
          </a:prstGeom>
          <a:solidFill>
            <a:srgbClr val="025F73"/>
          </a:solidFill>
          <a:ln w="12700">
            <a:solidFill>
              <a:srgbClr val="025F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185416" y="3319272"/>
            <a:ext cx="13533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From: Maharashtra</a:t>
            </a:r>
            <a:endParaRPr lang="en-US" sz="85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Domain: Fintech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Profession: Sr. Data Engineer</a:t>
            </a:r>
            <a:endParaRPr lang="en-US" sz="850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 9+ Yrs Exp</a:t>
            </a:r>
            <a:endParaRPr lang="en-US" sz="85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785616" y="1417320"/>
            <a:ext cx="1572768" cy="3429000"/>
          </a:xfrm>
          <a:prstGeom prst="rect">
            <a:avLst/>
          </a:prstGeom>
          <a:solidFill>
            <a:srgbClr val="0D3B6E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18488"/>
            <a:ext cx="914400" cy="914400"/>
          </a:xfrm>
          <a:prstGeom prst="ellipse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114800" y="2587752"/>
            <a:ext cx="914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831336" y="2715768"/>
            <a:ext cx="14813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Saikiran Malleli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895344" y="3319272"/>
            <a:ext cx="1353312" cy="685800"/>
          </a:xfrm>
          <a:prstGeom prst="rect">
            <a:avLst/>
          </a:prstGeom>
          <a:solidFill>
            <a:srgbClr val="017A6A"/>
          </a:solidFill>
          <a:ln w="12700">
            <a:solidFill>
              <a:srgbClr val="017A6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895344" y="3319272"/>
            <a:ext cx="13533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From: Andhra Pradesh</a:t>
            </a:r>
            <a:endParaRPr lang="en-US" sz="85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Domain: ERP, SUPPLY CHAIN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Profession: Product Manager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8 Yrs Exp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7" name="Shape 22"/>
          <p:cNvSpPr/>
          <p:nvPr/>
        </p:nvSpPr>
        <p:spPr>
          <a:xfrm>
            <a:off x="5495544" y="1417320"/>
            <a:ext cx="1572768" cy="3429000"/>
          </a:xfrm>
          <a:prstGeom prst="rect">
            <a:avLst/>
          </a:prstGeom>
          <a:solidFill>
            <a:srgbClr val="0D3B6E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1618488"/>
            <a:ext cx="914400" cy="914400"/>
          </a:xfrm>
          <a:prstGeom prst="ellipse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824728" y="2587752"/>
            <a:ext cx="914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41264" y="2715768"/>
            <a:ext cx="14813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Rittika Bhattacharya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605272" y="3319272"/>
            <a:ext cx="1353312" cy="685800"/>
          </a:xfrm>
          <a:prstGeom prst="rect">
            <a:avLst/>
          </a:prstGeom>
          <a:solidFill>
            <a:srgbClr val="014D5C"/>
          </a:solidFill>
          <a:ln w="12700">
            <a:solidFill>
              <a:srgbClr val="014D5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605272" y="3319272"/>
            <a:ext cx="13533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From: West Bengal</a:t>
            </a:r>
            <a:endParaRPr lang="en-US" sz="85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Domain: Teaching &amp; Education</a:t>
            </a:r>
            <a:endParaRPr lang="en-US" sz="850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Profession: Asst Professor of Statistics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5 Yrs Exp</a:t>
            </a:r>
            <a:endParaRPr lang="en-US" sz="85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7205472" y="1417320"/>
            <a:ext cx="1572768" cy="3429000"/>
          </a:xfrm>
          <a:prstGeom prst="rect">
            <a:avLst/>
          </a:prstGeom>
          <a:solidFill>
            <a:srgbClr val="0D3B6E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618488"/>
            <a:ext cx="914400" cy="914400"/>
          </a:xfrm>
          <a:prstGeom prst="ellipse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534656" y="2587752"/>
            <a:ext cx="914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251192" y="2715768"/>
            <a:ext cx="14813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Vaibhav Patil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7315200" y="3319272"/>
            <a:ext cx="1353312" cy="685800"/>
          </a:xfrm>
          <a:prstGeom prst="rect">
            <a:avLst/>
          </a:prstGeom>
          <a:solidFill>
            <a:srgbClr val="02A87F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315200" y="3319272"/>
            <a:ext cx="13533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From: Maharashtra </a:t>
            </a:r>
            <a:endParaRPr lang="en-US" sz="85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Domain: Oil &amp; Gas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Profession: Sr. Data Quality Analyst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sym typeface="+mn-ea"/>
              </a:rPr>
              <a:t>12+ Yrs Exp</a:t>
            </a:r>
            <a:endParaRPr lang="en-US" sz="85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0D2E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57200" y="4754880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Business Problem &amp; 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28216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691640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Large-volume diagnostic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947672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screening generates vast, hard-to-interpret FNA measurement sets across 30 features.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679192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risk flagging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935224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review leads to variability in identifying high-risk malignant cases.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850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366674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Missed malignant cases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922776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negatives are the most critical error — a missed malignant = missed investigation.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1188720"/>
            <a:ext cx="42976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1188720"/>
            <a:ext cx="42976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1887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16733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5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tumors as Malignant or Benign using Random Forest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17720" y="19659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5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Maximize sensitivity - protect malignant recall above all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225856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5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 clustering analysis  to identify hidden data patterns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3090672"/>
            <a:ext cx="4297680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3090672"/>
            <a:ext cx="429768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090672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SUCCESS METRICS (Charter-Defined)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51129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  </a:t>
            </a: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model ranking metric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378561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(Malignant)  </a:t>
            </a: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safeguard — minimize FN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405993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 (Malignant)  </a:t>
            </a: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Threshold-balancing metric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2744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D6B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Educational &amp; analytical in nature — not intended for clinical diagnosis or medical advice.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4625340" y="255574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5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reproducible, governed ML workflow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UNDERSTANDING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Dataset Overview &amp; Key Observations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93392" cy="10058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9933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188720"/>
            <a:ext cx="1993392" cy="10058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234440"/>
            <a:ext cx="19933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42032" y="178308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 Features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8304" y="1188720"/>
            <a:ext cx="1993392" cy="10058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1234440"/>
            <a:ext cx="19933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357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18304" y="178308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 Cases (B)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94576" y="1188720"/>
            <a:ext cx="1993392" cy="1005840"/>
          </a:xfrm>
          <a:prstGeom prst="rect">
            <a:avLst/>
          </a:prstGeom>
          <a:solidFill>
            <a:srgbClr val="0A2342"/>
          </a:solidFill>
          <a:ln w="254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94576" y="1234440"/>
            <a:ext cx="19933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53E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212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94576" y="178308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Malignant Cases (M)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2377440"/>
          <a:ext cx="32918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3840480" y="2377440"/>
            <a:ext cx="4937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40480" y="2377440"/>
            <a:ext cx="493776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31920" y="23774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GROUPS  ·  FNA-derived measurements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931920" y="2880360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9080" y="283464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Radius / Texture / Perimeter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069080" y="301752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shape dimensions from cell nuclei images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931920" y="3282696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69080" y="323697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 / Smoothness / Concavity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069080" y="341985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Size, surface uniformity &amp; irregularity indicators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931920" y="3685032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69080" y="36393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Compactness / Symmetry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069080" y="382219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Shape boundary characteristics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931920" y="4087368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69080" y="404164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Fractal Dimension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069080" y="4224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Structural regularity of cell boundaries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931920" y="4489704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69080" y="44439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· SE · Worst  (×10 each = 30 total)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069080" y="462686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statistical variants per feature family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4884420"/>
            <a:ext cx="8412480" cy="292608"/>
          </a:xfrm>
          <a:prstGeom prst="rect">
            <a:avLst/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9580" y="490423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17A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No missing values  ·  No duplicates  ·  Clean schema validated  ·  Outliers retained (RF robust to extremes)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686800" y="48996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Validation &amp; Preparation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ACTIVITIES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Renamed columns to documented WDBC feature names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non-informative ID column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30 features after ID &amp; label exclusion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zero missing values across all records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4378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duplicate rows found in 569 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encoded: Malignant (M) = 1, Benign (B) = 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42062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188720"/>
            <a:ext cx="4206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887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SPLIT  (Stratified)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719072"/>
            <a:ext cx="402336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1719072"/>
            <a:ext cx="603504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1719072"/>
            <a:ext cx="603504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719072"/>
            <a:ext cx="2816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 70%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397 records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79792" y="1719072"/>
            <a:ext cx="60350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83296" y="1719072"/>
            <a:ext cx="60350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2414016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37744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(70%)  —  397 records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560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learning · stratified to preserve class ratio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734056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9748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(15%)  —  86 records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8803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 tuning &amp; threshold selection only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054096"/>
            <a:ext cx="54864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0175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(15%)  —  86 records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20040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one-time evaluation · fully isolated throughout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822192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2219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INTEGRITY — LEAKAGE PREVENTION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23367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preprocessing, tuning &amp; threshold decisions made exclusively on train + validation data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set reserved for final one-time reporting — split indices saved for full reproducibility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Risk Identification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200400" cy="3566160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2004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RANDOM FOREST?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nonlinear relationships in tabular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Tolerates correlated predictors effectively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averaging reduces overfitting 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feature importance for interpretation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Charter-mandated as the sole supervised algorithm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170432"/>
            <a:ext cx="155448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26187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86200" y="1673352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 Data 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(WDBC · 569 records)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59552" y="1170432"/>
            <a:ext cx="1554480" cy="1371600"/>
          </a:xfrm>
          <a:prstGeom prst="rect">
            <a:avLst/>
          </a:prstGeom>
          <a:solidFill>
            <a:srgbClr val="0290A0"/>
          </a:solidFill>
          <a:ln w="12700">
            <a:solidFill>
              <a:srgbClr val="029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59552" y="126187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05272" y="1673352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Validation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78624" y="1170432"/>
            <a:ext cx="155448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78624" y="126187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24344" y="1673352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2743200"/>
            <a:ext cx="2331720" cy="1371600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0" y="2834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86200" y="32461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 (GridSearchCV)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743200"/>
            <a:ext cx="233172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2834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32461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Optimization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Final 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4279392"/>
            <a:ext cx="4937760" cy="566928"/>
          </a:xfrm>
          <a:prstGeom prst="rect">
            <a:avLst/>
          </a:prstGeom>
          <a:solidFill>
            <a:srgbClr val="0D3B6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4334256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4334256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334256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Sensitivity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4334256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 Optimization &amp; Tuning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64008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Model  (200 estimators, max_depth=None)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02536"/>
            <a:ext cx="3291840" cy="640080"/>
          </a:xfrm>
          <a:prstGeom prst="rect">
            <a:avLst/>
          </a:prstGeom>
          <a:solidFill>
            <a:srgbClr val="0D5A72"/>
          </a:solidFill>
          <a:ln w="12700">
            <a:solidFill>
              <a:srgbClr val="0D5A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002536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GridSearchCV  (5-fold stratified, ROC-AUC refit)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770632"/>
            <a:ext cx="27432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7063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Stability &amp; Malignant Recall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43000" y="3538728"/>
            <a:ext cx="2286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3538728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Tuned Config — max_depth=10, FN: 3→2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4389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188720"/>
            <a:ext cx="438912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18872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TUNED CONFIGURATION  (GridSearchCV)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1664208"/>
            <a:ext cx="146304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664208"/>
            <a:ext cx="1371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1664208"/>
            <a:ext cx="91440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664208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664208"/>
            <a:ext cx="192024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664208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1993392"/>
            <a:ext cx="14630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993392"/>
            <a:ext cx="1371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n_estimators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1993392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993392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1993392"/>
            <a:ext cx="1920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993392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Tree count for stability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4840" y="2322576"/>
            <a:ext cx="146304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322576"/>
            <a:ext cx="1371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max_depth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2322576"/>
            <a:ext cx="91440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322576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2322576"/>
            <a:ext cx="192024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322576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 overfitting (was None)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4840" y="2651760"/>
            <a:ext cx="14630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651760"/>
            <a:ext cx="1371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min_samples_split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0" y="2651760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265176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2651760"/>
            <a:ext cx="1920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2651760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threshold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34840" y="2980944"/>
            <a:ext cx="146304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2980944"/>
            <a:ext cx="1371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min_samples_leaf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43600" y="2980944"/>
            <a:ext cx="91440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2980944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03720" y="2980944"/>
            <a:ext cx="192024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980944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Leaf size control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34840" y="3310128"/>
            <a:ext cx="14630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3310128"/>
            <a:ext cx="1371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max_features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43600" y="3310128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3310128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sqrt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3310128"/>
            <a:ext cx="1920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310128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subset per split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34840" y="3639312"/>
            <a:ext cx="146304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3639312"/>
            <a:ext cx="1371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class_weight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43600" y="3639312"/>
            <a:ext cx="91440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9320" y="3639312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03720" y="3639312"/>
            <a:ext cx="1920240" cy="30175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3639312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Imbalance handled via threshold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34840" y="4251960"/>
            <a:ext cx="4297680" cy="658368"/>
          </a:xfrm>
          <a:prstGeom prst="rect">
            <a:avLst/>
          </a:prstGeom>
          <a:solidFill>
            <a:srgbClr val="E6F7F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498848" y="4315968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7A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 Result:  Validation FN reduced from 3 → 2  ·  Malignant Recall improved  ·  Overfitting controlled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Final Performance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61872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96.51%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806854"/>
            <a:ext cx="1600200" cy="4169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21408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21408" y="1261872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21408" y="1806854"/>
            <a:ext cx="1600200" cy="4169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(Malignant)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77056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02A87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77056" y="1261872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A87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77056" y="1806854"/>
            <a:ext cx="1600200" cy="4169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(Malignant)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32704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32704" y="1261872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32704" y="1806854"/>
            <a:ext cx="1600200" cy="4169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 (Malignant)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88352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88352" y="1261872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0.9997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88352" y="1806854"/>
            <a:ext cx="1600200" cy="4169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9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65760" y="2293620"/>
          <a:ext cx="41148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663440" y="2362200"/>
            <a:ext cx="4114800" cy="2514600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63440" y="24871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 (Test Set — 86 records)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20640" y="2834640"/>
            <a:ext cx="15087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120640" y="2889504"/>
            <a:ext cx="15087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120640" y="3508553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Negative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20840" y="2834640"/>
            <a:ext cx="15087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720840" y="2889504"/>
            <a:ext cx="15087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FP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720840" y="3508553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120640" y="3931920"/>
            <a:ext cx="1508760" cy="8229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120640" y="3986784"/>
            <a:ext cx="15087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120640" y="4483303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720840" y="3931920"/>
            <a:ext cx="150876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720840" y="3986784"/>
            <a:ext cx="15087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TP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29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720840" y="4483303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Positive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20640" y="276148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Pred: Benign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20840" y="276148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Pred: Malignant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D3B6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481126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54 benign cases correctly identified  ·  29/32 malignant correctly detected  ·  3 FN motivated threshold optimization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Threshold Calibration &amp; Error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35204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0.2800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02920" y="2779776"/>
            <a:ext cx="24688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71216"/>
            <a:ext cx="2560320" cy="1719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threshold: 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0.50
</a:t>
            </a:r>
            <a:r>
              <a:rPr lang="en-US" sz="11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optimization: </a:t>
            </a: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0.28
</a:t>
            </a: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0 False Negatives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Accuracy: 98.84%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548640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887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TRADEOFF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645920"/>
            <a:ext cx="2560320" cy="1005840"/>
          </a:xfrm>
          <a:prstGeom prst="rect">
            <a:avLst/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6733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  (Highest Risk)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947672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Before: 3 FN on test 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threshold: 0 FN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Priority: Eliminate these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645920"/>
            <a:ext cx="2514600" cy="1005840"/>
          </a:xfrm>
          <a:prstGeom prst="rect">
            <a:avLst/>
          </a:prstGeom>
          <a:solidFill>
            <a:srgbClr val="FFFBEB"/>
          </a:solidFill>
          <a:ln w="25400">
            <a:solidFill>
              <a:srgbClr val="DD6B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67335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6B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  (Acceptable)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9476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FP on initial test 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Borderline benign may flag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Adds review effort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907792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907792"/>
            <a:ext cx="54864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90779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 — ERROR PATTERN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392424"/>
            <a:ext cx="54864" cy="2286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34670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Missed Cases (FN)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20640" y="334670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values in overlapping benign/malignant boundary regions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739896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694176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Effect (0.28)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0640" y="369417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Eliminated all 3 FN on test set — accuracy rose from 96.51% to 98.84%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4087368"/>
            <a:ext cx="54864" cy="2286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404164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Cases (FP risk)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404164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 tumors with morphology near the shifted decision boundary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4434840"/>
            <a:ext cx="54864" cy="22860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43891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Features (Error)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20640" y="43891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radius_worst, perimeter_worst, concave_points_worst drove most decisions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Diagnostic Pattern Segmentation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8288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5555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case?"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307592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＋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34640" y="1170432"/>
            <a:ext cx="1828800" cy="1005840"/>
          </a:xfrm>
          <a:prstGeom prst="rect">
            <a:avLst/>
          </a:prstGeom>
          <a:solidFill>
            <a:srgbClr val="0D3B6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17043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behavior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groups exist?"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35608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  Deeper Interpretability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340864"/>
            <a:ext cx="2743200" cy="2423160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40864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4086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METHODS &amp; PREPARATION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15768"/>
            <a:ext cx="2560320" cy="1938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
</a:t>
            </a:r>
            <a:r>
              <a:rPr lang="en-US" sz="9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Diagnosis label excluded
• All 30 features StandardScaled
• 569 rows × 30 features matrix
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Clustering
</a:t>
            </a:r>
            <a:r>
              <a:rPr lang="en-US" sz="9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 k via Elbow Method
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Hierarchical Clustering
</a:t>
            </a:r>
            <a:r>
              <a:rPr lang="en-US" sz="9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via Dendrogram
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Visualization
</a:t>
            </a:r>
            <a:r>
              <a:rPr lang="en-US" sz="95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PC1: 44.27%  ·  PC2: 18.97%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Combined: 63.24% variance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2313432"/>
            <a:ext cx="1828800" cy="2487168"/>
          </a:xfrm>
          <a:prstGeom prst="rect">
            <a:avLst/>
          </a:prstGeom>
          <a:solidFill>
            <a:srgbClr val="0D3B6E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2313432"/>
            <a:ext cx="1828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3134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RISK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0175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Lower-Risk Pattern Group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31920" y="3310128"/>
            <a:ext cx="5486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383280"/>
            <a:ext cx="164592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Predominantly benign morphology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Smaller radii, lower concavity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Mostly benign labels align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85232" y="2313432"/>
            <a:ext cx="1828800" cy="2487168"/>
          </a:xfrm>
          <a:prstGeom prst="rect">
            <a:avLst/>
          </a:prstGeom>
          <a:solidFill>
            <a:srgbClr val="0D3B6E"/>
          </a:solidFill>
          <a:ln w="25400">
            <a:solidFill>
              <a:srgbClr val="DD6B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85232" y="2313432"/>
            <a:ext cx="1828800" cy="36576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23134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85232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30175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Borderline / Mixed Group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25312" y="3310128"/>
            <a:ext cx="548640" cy="36576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3383280"/>
            <a:ext cx="164592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values overlap between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 &amp; malignant patterns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closer analytical review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78624" y="2313432"/>
            <a:ext cx="1828800" cy="2487168"/>
          </a:xfrm>
          <a:prstGeom prst="rect">
            <a:avLst/>
          </a:prstGeom>
          <a:solidFill>
            <a:srgbClr val="0D3B6E"/>
          </a:solidFill>
          <a:ln w="254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78624" y="2313432"/>
            <a:ext cx="1828800" cy="3657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78624" y="23134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78624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Cluster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78624" y="30175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Higher-Risk Pattern Group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18704" y="3310128"/>
            <a:ext cx="548640" cy="365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0064" y="3383280"/>
            <a:ext cx="164592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Malignant-leaning morphology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concavity &amp; texture scores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malignant labels found here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0D3B6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pattern segmentation only — not medical subtyping or clinical treatment guidance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Insights &amp; Strategic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737360"/>
            <a:ext cx="24780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Threshold &gt; Raw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247802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Lowering threshold to 0.28 eliminated all 3 FN on test set — accuracy jumped from 96.51% to 98.84%.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7043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70432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70432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737360"/>
            <a:ext cx="24780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ROC-AUC Near Perfect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084832"/>
            <a:ext cx="247802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0.9997 ROC-AUC confirms excellent probability ranking — the model can reliably separate classes.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17043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170432"/>
            <a:ext cx="26974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170432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1737360"/>
            <a:ext cx="24780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Segmentation Adds Depth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1344" y="2084832"/>
            <a:ext cx="247802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+ K-Means revealed interpretable morphology clusters beyond binary classification output.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21608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576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Threshold-Tuned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 the 0.28-threshold model as the preferred final output — 98.84% accuracy, 0 FN.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0507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Test-Set Governance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2062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 one-time test usage discipline; all future threshold/parameter decisions on train+val only.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416552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3525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 Clusters Descriptively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55371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cluster profiles as morphology communication tools, not as medical subtypes.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721608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576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Dataset Diversity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858768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benchmark source limits generalizability — multi-institutional data needed for real deployment.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406908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00507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Explainability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2062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Incorporate SHAP/LIME to surface feature-level reasoning for each prediction made.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Limitations &amp; Future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91610" cy="3711575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7764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4864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19072"/>
            <a:ext cx="36393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Dataset (569 records)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947672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statistical generalizability to broader hospital populations.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4864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36393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Benchmark Source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606040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external hospital validation — not representative of real deployment.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54864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35808"/>
            <a:ext cx="36393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Clinical Validation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264408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Analytical workflow only — not tested in a clinical setting.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54864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94176"/>
            <a:ext cx="36393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Imaging / Genetic Data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2277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Restricted to FNA measurements; no additional patient variables.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398264"/>
            <a:ext cx="54864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352544"/>
            <a:ext cx="36393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Overfitting Risk (Initial)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4581144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model with max_depth=None showed perfect training performance.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188720"/>
            <a:ext cx="4149725" cy="366649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188720"/>
            <a:ext cx="42062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1887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773936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755648"/>
            <a:ext cx="237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5192" y="1719072"/>
            <a:ext cx="3730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Validation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65192" y="1947672"/>
            <a:ext cx="3730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on independent hospital datasets to verify generalizability.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432304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414016"/>
            <a:ext cx="237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5192" y="2377440"/>
            <a:ext cx="3730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 (SHAP/LIME)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65192" y="2606040"/>
            <a:ext cx="3730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Surface feature-level reasoning for every individual prediction.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090672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072384"/>
            <a:ext cx="237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65192" y="3035808"/>
            <a:ext cx="3730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Human-in-the-Loop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65192" y="3264408"/>
            <a:ext cx="3730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clinical reviewer gates for borderline probability cases.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730752"/>
            <a:ext cx="237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65192" y="3694176"/>
            <a:ext cx="3730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Drift Monitoring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65192" y="3922776"/>
            <a:ext cx="3730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data and model degradation in production pipelines.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440740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389120"/>
            <a:ext cx="237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65192" y="4352544"/>
            <a:ext cx="3730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Probability Calibration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65192" y="4581144"/>
            <a:ext cx="3730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Platt scaling / isotonic regression for better-calibrated outputs.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881372"/>
            <a:ext cx="841248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DD6B20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sz="1200" i="1" dirty="0">
                <a:solidFill>
                  <a:srgbClr val="DD6B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⚠  This workflow is for learning &amp; demonstration only — not intended for clinical diagnosis or medical deployment.</a:t>
            </a:r>
            <a:endParaRPr lang="en-US" sz="1200" i="1" dirty="0">
              <a:solidFill>
                <a:srgbClr val="DD6B2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365760"/>
            <a:ext cx="4114800" cy="4114800"/>
          </a:xfrm>
          <a:prstGeom prst="ellipse">
            <a:avLst/>
          </a:prstGeom>
          <a:solidFill>
            <a:srgbClr val="0E4B7A"/>
          </a:solidFill>
          <a:ln w="12700">
            <a:solidFill>
              <a:srgbClr val="0E4B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0292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31520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365760" y="1801368"/>
            <a:ext cx="4114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938528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" y="2578608"/>
            <a:ext cx="5303520" cy="2103120"/>
          </a:xfrm>
          <a:prstGeom prst="rect">
            <a:avLst/>
          </a:prstGeom>
          <a:solidFill>
            <a:srgbClr val="0D2E4E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65176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TITANS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01752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Anjaneyulu Pathuri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3649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Susmit Sudhakaran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7124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Saikiran Malleli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6120" y="301752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Rittika Bhattacharya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46120" y="33649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Vaibhav Patil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2578608"/>
            <a:ext cx="2834640" cy="2103120"/>
          </a:xfrm>
          <a:prstGeom prst="rect">
            <a:avLst/>
          </a:prstGeom>
          <a:solidFill>
            <a:srgbClr val="0D2E4E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35040" y="26517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AT A GLANCE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35040" y="30358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ROC-AUC:  </a:t>
            </a: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0.9997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35040" y="33558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Accuracy:  </a:t>
            </a: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98.84%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35040" y="36758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 after threshold:  </a:t>
            </a: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35040" y="39959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Threshold:  </a:t>
            </a: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0.28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35040" y="4315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Records:  </a:t>
            </a: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569 WDBC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88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Analytics Capstone  ·  UCI WDBC Dataset  ·  2026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9116</Words>
  <Application>WPS Presentation</Application>
  <PresentationFormat>On-screen Show (16:9)</PresentationFormat>
  <Paragraphs>614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Tumor Classification – Titans Capstone</dc:title>
  <dc:creator>PptxGenJS</dc:creator>
  <dc:subject>PptxGenJS Presentation</dc:subject>
  <cp:lastModifiedBy>Saikiran</cp:lastModifiedBy>
  <cp:revision>6</cp:revision>
  <dcterms:created xsi:type="dcterms:W3CDTF">2026-05-10T16:59:00Z</dcterms:created>
  <dcterms:modified xsi:type="dcterms:W3CDTF">2026-05-11T14:31:48Z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4897948BF89142A9B710CFD0D3C0A27C_12</vt:lpwstr>
  </property>
  <property fmtid="{D5CDD505-2E9C-101B-9397-08002B2CF9AE}" pid="3" name="KSOProductBuildVer">
    <vt:lpwstr>1033-12.1.0.26372</vt:lpwstr>
  </property>
</Properties>
</file>